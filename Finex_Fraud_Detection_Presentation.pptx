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5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D5D602-D392-9E4C-BFA2-71EA11576262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A488FC-493F-A34E-927A-A2318DC36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039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488FC-493F-A34E-927A-A2318DC364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252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488FC-493F-A34E-927A-A2318DC36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574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A488FC-493F-A34E-927A-A2318DC364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64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Fraud Problem at Finex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Why credit card fraud demands an urgent, technology-driven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23444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325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76C"/>
                </a:solidFill>
              </a:rPr>
              <a:t>The Business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167335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Finex serves thousands of customers across Florida and beyond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7627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Fraudsters exploit ATM skimming, stolen cards, and system hacks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67919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Attacks happen during off-peak hours — customers notice too 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8211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Late complaint registration means Finex absorbs the full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68503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44444"/>
                </a:solidFill>
              </a:rPr>
              <a:t>• Current manual review process is slow and costly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234440"/>
            <a:ext cx="5943600" cy="228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80760" y="13258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The Cost of Inaction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1576252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39C12"/>
                </a:solidFill>
              </a:rPr>
              <a:t>$50 Billion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98337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lost to credit card fraud globally each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28904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39C12"/>
                </a:solidFill>
              </a:rPr>
              <a:t>10 Million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663514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US consumers </a:t>
            </a:r>
            <a:r>
              <a:rPr sz="1100" b="0" dirty="0" err="1">
                <a:solidFill>
                  <a:srgbClr val="FFFFFF"/>
                </a:solidFill>
              </a:rPr>
              <a:t>victimised</a:t>
            </a:r>
            <a:r>
              <a:rPr sz="1100" b="0" dirty="0">
                <a:solidFill>
                  <a:srgbClr val="FFFFFF"/>
                </a:solidFill>
              </a:rPr>
              <a:t> annually (FTC)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96918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F39C12"/>
                </a:solidFill>
              </a:rPr>
              <a:t>0.52%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289226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of </a:t>
            </a:r>
            <a:r>
              <a:rPr sz="1100" b="0" dirty="0" err="1">
                <a:solidFill>
                  <a:srgbClr val="FFFFFF"/>
                </a:solidFill>
              </a:rPr>
              <a:t>Finex</a:t>
            </a:r>
            <a:r>
              <a:rPr sz="1100" b="0" dirty="0">
                <a:solidFill>
                  <a:srgbClr val="FFFFFF"/>
                </a:solidFill>
              </a:rPr>
              <a:t> transactions are fraudulent — but each one is costly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657600"/>
            <a:ext cx="5943600" cy="2606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3749039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</a:rPr>
              <a:t>How Fraud Happens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096511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ATM &amp; POS skimming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4480559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Stolen or lost credit/debit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4864607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Counterfeit card creation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5248655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System hacks &amp; data breaches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632703"/>
            <a:ext cx="56692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Fraudulent telemarketing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989320"/>
            <a:ext cx="5394960" cy="41148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6007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Solution: Build an ML model to detect fraud in real time and stop losses before they occur.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Two years of real-world transaction data from Finex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2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14630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555,719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Total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Jan 2019 – Dec 2020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234440"/>
            <a:ext cx="2743200" cy="146304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19272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~1,000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Unique Cardholders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Across the 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234440"/>
            <a:ext cx="2743200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64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~800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64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Merchant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27064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14 spending categories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234440"/>
            <a:ext cx="2743200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4856" y="132588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2,145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4856" y="1874519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Fraud Cases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1762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Only 0.39% of all transactions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880360"/>
            <a:ext cx="5486400" cy="3383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76C"/>
                </a:solidFill>
              </a:rPr>
              <a:t>Class Imbalance — The Core Challenge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429000"/>
            <a:ext cx="4937760" cy="5029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456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</a:rPr>
              <a:t>Legitimate  553,574  (99.61%)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4069080"/>
            <a:ext cx="165463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4096512"/>
            <a:ext cx="4846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FF0000"/>
                </a:solidFill>
              </a:rPr>
              <a:t>Fraudulent  2,145  (0.39%)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091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444444"/>
                </a:solidFill>
              </a:rPr>
              <a:t>A model that predicts 'legitimate' for every transaction would be 99.6% accurate
— yet catch zero fraud. This is why we need </a:t>
            </a:r>
            <a:r>
              <a:rPr sz="1100" b="0" dirty="0" err="1">
                <a:solidFill>
                  <a:srgbClr val="444444"/>
                </a:solidFill>
              </a:rPr>
              <a:t>specialised</a:t>
            </a:r>
            <a:r>
              <a:rPr sz="1100" b="0" dirty="0">
                <a:solidFill>
                  <a:srgbClr val="444444"/>
                </a:solidFill>
              </a:rPr>
              <a:t> ML techniques.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880360"/>
            <a:ext cx="5852160" cy="3383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72200" y="29718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39C12"/>
                </a:solidFill>
              </a:rPr>
              <a:t>Key Data Fields 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3192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Transaction date, time &amp; amount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73075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Merchant name &amp; spending category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414223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Cardholder name, gender &amp; date of birth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55371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Cardholder &amp; merchant GPS coordinates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96519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City, state &amp; population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537667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• Fraud label: 1 = Fraud, 0 = Legitimate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Fraud Patterns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Data analysis reveals when, where, and how fraud strikes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3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657600" cy="268833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9844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🕐  When Does Fraud Happen?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Fraud spikes sharply between midnight and 3am — when cardholders are asleep and unlikely to notice suspicious activity. Weekend fraud rates are also elevated.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2606040"/>
            <a:ext cx="2901696" cy="17373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260604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12am–3am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56" y="260604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2.8x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825496"/>
            <a:ext cx="1243584" cy="17373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2825496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3am–6am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282549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1.2x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044952"/>
            <a:ext cx="310896" cy="173736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044952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6am–9am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044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0.3x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3264408"/>
            <a:ext cx="259080" cy="173736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3264408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9am–12pm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9240" y="326440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0.2x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483864"/>
            <a:ext cx="290169" cy="173736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483864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12pm–6pm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0329" y="34838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0.3x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3703320"/>
            <a:ext cx="518160" cy="17373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703320"/>
            <a:ext cx="8046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6pm–12am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98320" y="370332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0.5x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97096" y="1234440"/>
            <a:ext cx="4352544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51960" y="12984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🛒  Which Categories Are Targeted?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1719072"/>
            <a:ext cx="288036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51960" y="1719072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Online Shopping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2011679"/>
            <a:ext cx="240030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2011679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>
                <a:solidFill>
                  <a:srgbClr val="444444"/>
                </a:solidFill>
              </a:rPr>
              <a:t>Miscellaneous Online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23560" y="2304287"/>
            <a:ext cx="1440180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51960" y="2304287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Grocery (In-store)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2596895"/>
            <a:ext cx="1120139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51960" y="2596895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Entertainment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2889503"/>
            <a:ext cx="640080" cy="256032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1960" y="2889503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Gas &amp; Transport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23560" y="3182111"/>
            <a:ext cx="480060" cy="256032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51960" y="3182111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44444"/>
                </a:solidFill>
              </a:rPr>
              <a:t>Health &amp; Fitness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40156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44444"/>
                </a:solidFill>
              </a:rPr>
              <a:t>Online &amp; digital channels carry the highest fraud risk.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49640" y="1211580"/>
            <a:ext cx="3337559" cy="24917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75320" y="12984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📍  Geographic Distance Signal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1691640"/>
            <a:ext cx="3474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Fraudulent transactions occur significantly farther from the cardholder's registered address than legitimate ones.
Average distance:
  • Legitimate:  ~50 km
  • Fraudulent:  ~150 km
This is the single strongest predictor of fraud in our model.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050792"/>
            <a:ext cx="3657600" cy="221284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419840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F39C12"/>
                </a:solidFill>
              </a:rPr>
              <a:t>💳  Transaction Amount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454914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FFFFFF"/>
                </a:solidFill>
              </a:rPr>
              <a:t>Fraudulent transactions tend to be larger than legitimate ones, though there is overlap.
  • Avg legitimate amount:  ~$68
  • Avg fraudulent amount:  ~$130
Large transactions in unusual categories at odd hours are high-risk.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0" y="3840480"/>
            <a:ext cx="384048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251960" y="3904487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👤  Who Is Most at Risk?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0" y="429768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Older cardholders (55+) show slightly higher fraud rates, likely because they are less likely to use real-time banking alerts or monitor accounts closely.
Gender shows minimal difference in fraud exposure.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38160" y="3840480"/>
            <a:ext cx="3749039" cy="242316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75320" y="3904487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💡  Key Insight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4297680"/>
            <a:ext cx="3474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 single feature perfectly separates fraud from legitimate transactions. The ML model combines all signals — time, distance, amount, category, and age — to make accurate predictions that no manual rule could replicate.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Model Performance — Finding the Best Fraud Detector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We tested four models and selected the one that catches the most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12880" cy="7772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D6008"/>
                </a:solidFill>
              </a:rPr>
              <a:t>⚠️  Why 'Catch Rate' (Recall) is our #1 metric:  Every missed fraud = Finex pays the full transaction amount. A false alarm costs only $1.50 for a customer support call. We optimise to catch as many frauds as possible.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48840"/>
            <a:ext cx="288036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167128"/>
            <a:ext cx="28346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48840"/>
            <a:ext cx="1691639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167128"/>
            <a:ext cx="16459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Catch Rate
(Recall)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148840"/>
            <a:ext cx="150876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2167128"/>
            <a:ext cx="1463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148840"/>
            <a:ext cx="150876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2167128"/>
            <a:ext cx="1463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2148840"/>
            <a:ext cx="150876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2440" y="2167128"/>
            <a:ext cx="14630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0" y="2148840"/>
            <a:ext cx="1325880" cy="4572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46920" y="2167128"/>
            <a:ext cx="1280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Selected?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51760"/>
            <a:ext cx="28803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688336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XGBoost*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651760"/>
            <a:ext cx="1691639" cy="475488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2688336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91%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651760"/>
            <a:ext cx="1508760" cy="475488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83480" y="2688336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2651760"/>
            <a:ext cx="1508760" cy="475488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7960" y="2688336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0.46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651760"/>
            <a:ext cx="1508760" cy="475488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92440" y="2688336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0.96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01200" y="2651760"/>
            <a:ext cx="1325880" cy="475488"/>
          </a:xfrm>
          <a:prstGeom prst="rect">
            <a:avLst/>
          </a:prstGeom>
          <a:solidFill>
            <a:srgbClr val="E8F8E8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46920" y="2688336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8C8C"/>
                </a:solidFill>
              </a:rPr>
              <a:t>✅ BEST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182112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0040" y="3218688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Random Forest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182112"/>
            <a:ext cx="16916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246120" y="3218688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83%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182112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80" y="3218688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32%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182112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37960" y="3218688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0.46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3182112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92440" y="3218688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0.96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01200" y="3182112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46920" y="3218688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74320" y="3712463"/>
            <a:ext cx="28803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20040" y="3749039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Decision Tree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712463"/>
            <a:ext cx="1691639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46120" y="3749039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99%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712463"/>
            <a:ext cx="1508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80" y="3749039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712463"/>
            <a:ext cx="1508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37960" y="3749039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0.01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3712463"/>
            <a:ext cx="150876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092440" y="3749039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01200" y="3712463"/>
            <a:ext cx="1325880" cy="475488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46920" y="3749039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274320" y="4242816"/>
            <a:ext cx="2880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20040" y="4279392"/>
            <a:ext cx="2834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A376C"/>
                </a:solidFill>
              </a:rPr>
              <a:t>Logistic Regression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4242816"/>
            <a:ext cx="1691639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246120" y="4279392"/>
            <a:ext cx="164591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75%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37760" y="424281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983480" y="4279392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1.3%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424281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537960" y="4279392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0.03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46720" y="4242816"/>
            <a:ext cx="15087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2440" y="4279392"/>
            <a:ext cx="146303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0.85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01200" y="4242816"/>
            <a:ext cx="1325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646920" y="4279392"/>
            <a:ext cx="1280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74320" y="4800600"/>
            <a:ext cx="11612880" cy="14173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57200" y="48463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Why Decision Tree was selected as the best model: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7200" y="519379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Decision Tree achieved the highest Catch Rate (91%) among models with acceptable Precision (≥10%). XGBoost achieved 99.5% recall but flagged nearly every transaction as fraud (0.5% precision), making it impractical for deployment. Decision Tree strikes the right balance: 91% of frauds caught with 30% precision — meaning 1 in 3 flagged transactions is genuinely fraudulent, keeping customer support costs manageable while maximising fraud detection.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Financial Impact — What the Model Saves Finex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Translating model performance into monthly dollar savings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5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11612880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261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76C"/>
                </a:solidFill>
              </a:rPr>
              <a:t>Monthly Baseline (from historical data):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61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76C"/>
                </a:solidFill>
              </a:rPr>
              <a:t>~79,388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Transactions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261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76C"/>
                </a:solidFill>
              </a:rPr>
              <a:t>~306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Fraud cases /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261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A376C"/>
                </a:solidFill>
              </a:rPr>
              <a:t>~$529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1572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44444"/>
                </a:solidFill>
              </a:rPr>
              <a:t>Avg fraud amount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94560"/>
            <a:ext cx="5303520" cy="4069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240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76C"/>
                </a:solidFill>
              </a:rPr>
              <a:t>Monthly Cost: Before vs After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475488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2724912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BEFORE Model:  ~$161,904 / month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20440"/>
            <a:ext cx="4754880" cy="59436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0930" y="3547872"/>
            <a:ext cx="27932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</a:rPr>
              <a:t>   </a:t>
            </a:r>
            <a:r>
              <a:rPr sz="1400" b="1" dirty="0">
                <a:solidFill>
                  <a:srgbClr val="FFFFFF"/>
                </a:solidFill>
              </a:rPr>
              <a:t>AFTER Model:  ~$15,719 / 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343400"/>
            <a:ext cx="4754880" cy="4297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407408"/>
            <a:ext cx="47548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▼  Monthly Savings:  ~$146,185  (90% cost reduction</a:t>
            </a:r>
            <a:r>
              <a:rPr sz="1300" b="1" dirty="0">
                <a:solidFill>
                  <a:srgbClr val="F39C12"/>
                </a:solidFill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76C"/>
                </a:solidFill>
              </a:rPr>
              <a:t>Annual savings estimate:  ~$1,754,215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57800"/>
            <a:ext cx="5303520" cy="960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5303520"/>
            <a:ext cx="5029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How the savings are calculated:  The model flags suspicious transactions for a $1.50 verification call. Frauds it misses still cost the full amount — but with 87% catch rate, very few slip through.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2194560"/>
            <a:ext cx="6035040" cy="40690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225856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Cost Breakdown After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26974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Transactions flagged / month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6974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39C12"/>
                </a:solidFill>
              </a:rPr>
              <a:t>~918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08152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Cost per flagged transaction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0815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39C12"/>
                </a:solidFill>
              </a:rPr>
              <a:t>$1.50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4655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Verification cost / month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4655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39C12"/>
                </a:solidFill>
              </a:rPr>
              <a:t>~$1,378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384962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Frauds still missed / month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38496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</a:rPr>
              <a:t>~27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2336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Cost of missed frauds / 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0" y="42336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</a:rPr>
              <a:t>~$14,341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46177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Total cost after model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46177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1A8C8C"/>
                </a:solidFill>
              </a:rPr>
              <a:t>~$15,719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00176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Cost before model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5001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C0392B"/>
                </a:solidFill>
              </a:rPr>
              <a:t>~$161,904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5040" y="528784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9C12"/>
                </a:solidFill>
              </a:rPr>
              <a:t>NET MONTHLY SAVINGS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2660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39C12"/>
                </a:solidFill>
              </a:rPr>
              <a:t>~$146,185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5486400"/>
            <a:ext cx="6035040" cy="59436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89320" y="553212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Note: Model deployment cost is one-time and not included in monthly savings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Recommendations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FF"/>
                </a:solidFill>
              </a:rPr>
              <a:t>A clear roadmap to operationalise fraud detection at Finex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Finex Financial Services  |  Credit Card Fraud Detection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6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2743200" cy="5029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2618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1: Deploy the XGBoost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55648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Integrate the trained model into Finex's transaction 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Set up real-time scoring: every transaction is scored within milliseconds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0723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Flag high-risk transactions for the $1.50 SMS verification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37560" y="12618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2: Monitor Model Performance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755648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Track Recall, Precision, and false alarm rate weekly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4505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Set up automated alerts if Recall drops below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0723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Log all flagged transactions and customer responses for audit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09359" y="12618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3: Retrain Regularly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55648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59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Fraud patterns evolve — retrain the model every 3–6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4505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Incorporate new fraud cases as labelled training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0723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Test new features (e.g., transaction velocity, device fingerprint)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234440"/>
            <a:ext cx="27432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1261872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Step 4: Expand Fraud Prevention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755648"/>
            <a:ext cx="2743200" cy="320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81160" y="18288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Add real-time OTP alerts for high-risk transactions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45059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Partner with card networks for shared fraud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072384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</a:rPr>
              <a:t>• Educate customers on monitoring their accounts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120640"/>
            <a:ext cx="11612880" cy="1143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5166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Summary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3212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By deploying the Decision Tree fraud detection model, Finex can save approximately $146,185 per month — over $1.75 million annually — while dramatically improving customer trust and reducing manual review workload. The model catches 91% of all fraudulent transactions before they cause financial harm.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1267</Words>
  <Application>Microsoft Macintosh PowerPoint</Application>
  <PresentationFormat>Custom</PresentationFormat>
  <Paragraphs>179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Sharma, Bhragu X.</cp:lastModifiedBy>
  <cp:revision>10</cp:revision>
  <dcterms:created xsi:type="dcterms:W3CDTF">2013-01-27T09:14:16Z</dcterms:created>
  <dcterms:modified xsi:type="dcterms:W3CDTF">2026-04-28T04:14:24Z</dcterms:modified>
  <cp:category/>
</cp:coreProperties>
</file>